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anum Square Light" charset="1" panose="020B0600000101010101"/>
      <p:regular r:id="rId17"/>
    </p:embeddedFont>
    <p:embeddedFont>
      <p:font typeface="Heebo Medium" charset="1" panose="00000600000000000000"/>
      <p:regular r:id="rId18"/>
    </p:embeddedFont>
    <p:embeddedFont>
      <p:font typeface="Heebo Ultra-Bold" charset="1" panose="00000900000000000000"/>
      <p:regular r:id="rId19"/>
    </p:embeddedFont>
    <p:embeddedFont>
      <p:font typeface="Source Han Sans KR Medium" charset="1" panose="020B0600000000000000"/>
      <p:regular r:id="rId20"/>
    </p:embeddedFont>
    <p:embeddedFont>
      <p:font typeface="Cabin Bold" charset="1" panose="00000800000000000000"/>
      <p:regular r:id="rId21"/>
    </p:embeddedFont>
    <p:embeddedFont>
      <p:font typeface="Heebo Bold" charset="1" panose="00000800000000000000"/>
      <p:regular r:id="rId22"/>
    </p:embeddedFont>
    <p:embeddedFont>
      <p:font typeface="Heebo Light" charset="1" panose="00000400000000000000"/>
      <p:regular r:id="rId23"/>
    </p:embeddedFont>
    <p:embeddedFont>
      <p:font typeface="Nanum Square" charset="1" panose="020B0600000101010101"/>
      <p:regular r:id="rId24"/>
    </p:embeddedFont>
    <p:embeddedFont>
      <p:font typeface="Nanum Square Bold" charset="1" panose="020B0600000101010101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6224" y="7042354"/>
            <a:ext cx="4375553" cy="486645"/>
            <a:chOff x="0" y="0"/>
            <a:chExt cx="874395" cy="972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4395" cy="97249"/>
            </a:xfrm>
            <a:custGeom>
              <a:avLst/>
              <a:gdLst/>
              <a:ahLst/>
              <a:cxnLst/>
              <a:rect r="r" b="b" t="t" l="l"/>
              <a:pathLst>
                <a:path h="97249" w="874395">
                  <a:moveTo>
                    <a:pt x="0" y="0"/>
                  </a:moveTo>
                  <a:lnTo>
                    <a:pt x="874395" y="0"/>
                  </a:lnTo>
                  <a:lnTo>
                    <a:pt x="874395" y="97249"/>
                  </a:lnTo>
                  <a:lnTo>
                    <a:pt x="0" y="97249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4395" cy="135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93371" y="3806908"/>
            <a:ext cx="11301259" cy="3006846"/>
          </a:xfrm>
          <a:custGeom>
            <a:avLst/>
            <a:gdLst/>
            <a:ahLst/>
            <a:cxnLst/>
            <a:rect r="r" b="b" t="t" l="l"/>
            <a:pathLst>
              <a:path h="3006846" w="11301259">
                <a:moveTo>
                  <a:pt x="0" y="0"/>
                </a:moveTo>
                <a:lnTo>
                  <a:pt x="11301258" y="0"/>
                </a:lnTo>
                <a:lnTo>
                  <a:pt x="11301258" y="3006846"/>
                </a:lnTo>
                <a:lnTo>
                  <a:pt x="0" y="300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028" r="0" b="-3163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03001" y="2717732"/>
            <a:ext cx="11881998" cy="100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82"/>
              </a:lnSpc>
            </a:pPr>
            <a:r>
              <a:rPr lang="en-US" sz="7194" spc="-359">
                <a:solidFill>
                  <a:srgbClr val="2F2F2F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혁신을 이끄는 벤처캐피탈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29376" y="7060987"/>
            <a:ext cx="3229248" cy="37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6"/>
              </a:lnSpc>
            </a:pPr>
            <a:r>
              <a:rPr lang="en-US" b="true" sz="2098">
                <a:solidFill>
                  <a:srgbClr val="FFFDFD"/>
                </a:solidFill>
                <a:latin typeface="Heebo Medium"/>
                <a:ea typeface="Heebo Medium"/>
                <a:cs typeface="Heebo Medium"/>
                <a:sym typeface="Heebo Medium"/>
              </a:rPr>
              <a:t>2021213885 손지한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05984" y="7711350"/>
            <a:ext cx="7876032" cy="28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2"/>
              </a:lnSpc>
            </a:pPr>
            <a:r>
              <a:rPr lang="en-US" b="true" sz="1598" spc="31">
                <a:solidFill>
                  <a:srgbClr val="2F2F2F"/>
                </a:solidFill>
                <a:latin typeface="Heebo Ultra-Bold"/>
                <a:ea typeface="Heebo Ultra-Bold"/>
                <a:cs typeface="Heebo Ultra-Bold"/>
                <a:sym typeface="Heebo Ultra-Bold"/>
              </a:rPr>
              <a:t>[ 투자 · 성장 · 혁신 · 파트너십 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692721" y="2071637"/>
            <a:ext cx="8595279" cy="0"/>
          </a:xfrm>
          <a:prstGeom prst="line">
            <a:avLst/>
          </a:prstGeom>
          <a:ln cap="flat" w="19050">
            <a:solidFill>
              <a:srgbClr val="D7D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692721" y="3221361"/>
            <a:ext cx="8595279" cy="0"/>
          </a:xfrm>
          <a:prstGeom prst="line">
            <a:avLst/>
          </a:prstGeom>
          <a:ln cap="flat" w="19050">
            <a:solidFill>
              <a:srgbClr val="D7D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692721" y="4371085"/>
            <a:ext cx="8595279" cy="0"/>
          </a:xfrm>
          <a:prstGeom prst="line">
            <a:avLst/>
          </a:prstGeom>
          <a:ln cap="flat" w="19050">
            <a:solidFill>
              <a:srgbClr val="D7D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692721" y="5520809"/>
            <a:ext cx="8595279" cy="0"/>
          </a:xfrm>
          <a:prstGeom prst="line">
            <a:avLst/>
          </a:prstGeom>
          <a:ln cap="flat" w="19050">
            <a:solidFill>
              <a:srgbClr val="D7D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692721" y="6670533"/>
            <a:ext cx="8595279" cy="0"/>
          </a:xfrm>
          <a:prstGeom prst="line">
            <a:avLst/>
          </a:prstGeom>
          <a:ln cap="flat" w="19050">
            <a:solidFill>
              <a:srgbClr val="D7D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692721" y="7820257"/>
            <a:ext cx="8595279" cy="0"/>
          </a:xfrm>
          <a:prstGeom prst="line">
            <a:avLst/>
          </a:prstGeom>
          <a:ln cap="flat" w="19050">
            <a:solidFill>
              <a:srgbClr val="D7D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692721" y="8969981"/>
            <a:ext cx="8595279" cy="0"/>
          </a:xfrm>
          <a:prstGeom prst="line">
            <a:avLst/>
          </a:prstGeom>
          <a:ln cap="flat" w="19050">
            <a:solidFill>
              <a:srgbClr val="D7D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909278" y="1307494"/>
            <a:ext cx="1615529" cy="23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b="true" sz="1537">
                <a:solidFill>
                  <a:srgbClr val="24242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기관개요&amp;설립목적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09278" y="2460025"/>
            <a:ext cx="1859310" cy="23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b="true" sz="1537">
                <a:solidFill>
                  <a:srgbClr val="24242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독보적 역할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09278" y="3612556"/>
            <a:ext cx="1859310" cy="23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b="true" sz="1537">
                <a:solidFill>
                  <a:srgbClr val="24242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주요고객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09278" y="4765087"/>
            <a:ext cx="1508820" cy="23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b="true" sz="1537">
                <a:solidFill>
                  <a:srgbClr val="24242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주요상품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09278" y="5917617"/>
            <a:ext cx="1158255" cy="23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b="true" sz="1537">
                <a:solidFill>
                  <a:srgbClr val="24242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차별점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09278" y="7070148"/>
            <a:ext cx="1859310" cy="23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b="true" sz="1537">
                <a:solidFill>
                  <a:srgbClr val="24242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최근행보&amp;견해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09278" y="8222679"/>
            <a:ext cx="1508820" cy="23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2"/>
              </a:lnSpc>
            </a:pPr>
            <a:r>
              <a:rPr lang="en-US" b="true" sz="1537">
                <a:solidFill>
                  <a:srgbClr val="24242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취업역량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2615" y="1288444"/>
            <a:ext cx="2906613" cy="181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55"/>
              </a:lnSpc>
            </a:pPr>
            <a:r>
              <a:rPr lang="en-US" b="true" sz="5850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Table of</a:t>
            </a:r>
          </a:p>
          <a:p>
            <a:pPr algn="l" marL="0" indent="0" lvl="0">
              <a:lnSpc>
                <a:spcPts val="7255"/>
              </a:lnSpc>
            </a:pPr>
            <a:r>
              <a:rPr lang="en-US" b="true" sz="5850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7226" y="1326544"/>
            <a:ext cx="409575" cy="42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4"/>
              </a:lnSpc>
            </a:pPr>
            <a:r>
              <a:rPr lang="en-US" b="true" sz="2925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07226" y="2479075"/>
            <a:ext cx="470595" cy="42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4"/>
              </a:lnSpc>
            </a:pPr>
            <a:r>
              <a:rPr lang="en-US" b="true" sz="2925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07226" y="3631606"/>
            <a:ext cx="474390" cy="42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4"/>
              </a:lnSpc>
            </a:pPr>
            <a:r>
              <a:rPr lang="en-US" b="true" sz="2925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07226" y="4784137"/>
            <a:ext cx="505644" cy="42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4"/>
              </a:lnSpc>
            </a:pPr>
            <a:r>
              <a:rPr lang="en-US" b="true" sz="2925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07226" y="5936667"/>
            <a:ext cx="473646" cy="42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4"/>
              </a:lnSpc>
            </a:pPr>
            <a:r>
              <a:rPr lang="en-US" b="true" sz="2925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07226" y="7089198"/>
            <a:ext cx="483171" cy="42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4"/>
              </a:lnSpc>
            </a:pPr>
            <a:r>
              <a:rPr lang="en-US" b="true" sz="2925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07226" y="8241729"/>
            <a:ext cx="463302" cy="42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4"/>
              </a:lnSpc>
            </a:pPr>
            <a:r>
              <a:rPr lang="en-US" b="true" sz="2925">
                <a:solidFill>
                  <a:srgbClr val="3F51B5"/>
                </a:solidFill>
                <a:latin typeface="Cabin Bold"/>
                <a:ea typeface="Cabin Bold"/>
                <a:cs typeface="Cabin Bold"/>
                <a:sym typeface="Cabin 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기관 개요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설립 목적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11144" y="4124042"/>
            <a:ext cx="9747602" cy="3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4"/>
              </a:lnSpc>
            </a:pP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2000년 소프트뱅크그룹 산하 VC로 출발.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2023년 The Edgeof에 인수, 독립 VC 체제로 전환.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초기~성장단계 AI,딥테크,ICT 분야 스타트업 투자</a:t>
            </a:r>
          </a:p>
          <a:p>
            <a:pPr algn="just">
              <a:lnSpc>
                <a:spcPts val="3924"/>
              </a:lnSpc>
            </a:pPr>
          </a:p>
          <a:p>
            <a:pPr algn="just">
              <a:lnSpc>
                <a:spcPts val="3924"/>
              </a:lnSpc>
            </a:pPr>
          </a:p>
          <a:p>
            <a:pPr algn="just" marL="0" indent="0" lvl="0">
              <a:lnSpc>
                <a:spcPts val="31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769101" y="3877345"/>
            <a:ext cx="487380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50"/>
              </a:lnSpc>
            </a:pPr>
            <a:r>
              <a:rPr lang="en-US" b="true" sz="5000" spc="-350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기관 개요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5400000">
            <a:off x="4108749" y="2353113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631581" y="8418632"/>
            <a:ext cx="12022643" cy="123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1"/>
              </a:lnSpc>
            </a:pPr>
            <a:r>
              <a:rPr lang="en-US" sz="1599" spc="-31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홈페이지 설명: SBVA는 2000년 소프트뱅크그룹 산하의 VC(벤처캐피털)로 시작해 오랜 기간 전 세계 수많은 기업가들의 동반자로서 함께해 왔습니다.</a:t>
            </a:r>
          </a:p>
          <a:p>
            <a:pPr algn="just">
              <a:lnSpc>
                <a:spcPts val="2511"/>
              </a:lnSpc>
            </a:pPr>
            <a:r>
              <a:rPr lang="en-US" sz="1599" spc="-31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2023년 글로벌 스타트업 생태계 구축을 목표로 손태장(Taejang Son), 이준표(JP Lee), 타이라 아츠시(Atsushi Taira)가 공동으로 설립한</a:t>
            </a:r>
          </a:p>
          <a:p>
            <a:pPr algn="just">
              <a:lnSpc>
                <a:spcPts val="2511"/>
              </a:lnSpc>
            </a:pPr>
            <a:r>
              <a:rPr lang="en-US" sz="1599" spc="-31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The Edgeof에 인수된 이후, 독립된 투자 회사로서 기술 발전과 미래 혁신을 주도해 나가고 있습니다.</a:t>
            </a:r>
          </a:p>
          <a:p>
            <a:pPr algn="just" marL="0" indent="0" lvl="0">
              <a:lnSpc>
                <a:spcPts val="2355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7028" r="0" b="-3163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기관 개요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설립 목적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30219" y="4064620"/>
            <a:ext cx="10398111" cy="315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4"/>
              </a:lnSpc>
            </a:pPr>
          </a:p>
          <a:p>
            <a:pPr algn="just">
              <a:lnSpc>
                <a:spcPts val="3924"/>
              </a:lnSpc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기술 기반 창업가를 키워서 더 나은 미래를 만드는 것.</a:t>
            </a:r>
          </a:p>
          <a:p>
            <a:pPr algn="just">
              <a:lnSpc>
                <a:spcPts val="3924"/>
              </a:lnSpc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 - 스타트업 투자 + 성장 지원 + 산업 혁신 촉진</a:t>
            </a:r>
          </a:p>
          <a:p>
            <a:pPr algn="just">
              <a:lnSpc>
                <a:spcPts val="3924"/>
              </a:lnSpc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 - 유망 스타트업을 발굴해 기술혁신과 사업성을 연결시켜 산업변화와 가치를 창출.</a:t>
            </a:r>
          </a:p>
          <a:p>
            <a:pPr algn="just">
              <a:lnSpc>
                <a:spcPts val="3140"/>
              </a:lnSpc>
            </a:pPr>
          </a:p>
          <a:p>
            <a:pPr algn="just">
              <a:lnSpc>
                <a:spcPts val="3140"/>
              </a:lnSpc>
            </a:pPr>
          </a:p>
          <a:p>
            <a:pPr algn="just" marL="0" indent="0" lvl="0">
              <a:lnSpc>
                <a:spcPts val="31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730219" y="3877345"/>
            <a:ext cx="4873801" cy="66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</a:pPr>
            <a:r>
              <a:rPr lang="en-US" b="true" sz="4996" spc="-349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설립 목적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5400000">
            <a:off x="4108749" y="3219390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7028" r="0" b="-3163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독보적 역할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고객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2785" y="4593677"/>
            <a:ext cx="9747602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초기 기술 혁신의 '발굴자'와 '마중물'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아시아와 글로벌 시장의 '연결 고리'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단순 투자를 넘어선 '전략적 파트너십'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'정보 혁명'의 가치 계승과 확장</a:t>
            </a:r>
          </a:p>
          <a:p>
            <a:pPr algn="l">
              <a:lnSpc>
                <a:spcPts val="392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730219" y="3877345"/>
            <a:ext cx="4873801" cy="66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</a:pPr>
            <a:r>
              <a:rPr lang="en-US" b="true" sz="4996" spc="-349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독보적 역할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28" r="0" b="-3163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77994" y="3832105"/>
            <a:ext cx="3474065" cy="847297"/>
            <a:chOff x="0" y="0"/>
            <a:chExt cx="914980" cy="2231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88997" y="4018962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상품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5400000">
            <a:off x="4108749" y="2353064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97044" y="4717502"/>
            <a:ext cx="3474065" cy="847297"/>
            <a:chOff x="0" y="0"/>
            <a:chExt cx="914980" cy="223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8047" y="490435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차별점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독보적 역할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고객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2785" y="4593677"/>
            <a:ext cx="10307343" cy="295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핵심 고객 : 혁신 기술 스타트업</a:t>
            </a:r>
          </a:p>
          <a:p>
            <a:pPr algn="l">
              <a:lnSpc>
                <a:spcPts val="3924"/>
              </a:lnSpc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- 자금 공급, 글로벌 네트워크 연결, 경영 컨설팅, 후속 투자 유치 지원.</a:t>
            </a:r>
          </a:p>
          <a:p>
            <a:pPr algn="l">
              <a:lnSpc>
                <a:spcPts val="3924"/>
              </a:lnSpc>
            </a:pP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전략적 고객 : 출자자</a:t>
            </a:r>
          </a:p>
          <a:p>
            <a:pPr algn="l">
              <a:lnSpc>
                <a:spcPts val="3924"/>
              </a:lnSpc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- 높은 투자 수익률, 최신 기술 트렌드 정보, 유망 기업과의 전략적 협업 기회.</a:t>
            </a:r>
          </a:p>
          <a:p>
            <a:pPr algn="l">
              <a:lnSpc>
                <a:spcPts val="392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730219" y="3877345"/>
            <a:ext cx="4873801" cy="66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</a:pPr>
            <a:r>
              <a:rPr lang="en-US" b="true" sz="4996" spc="-349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주요 고객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28" r="0" b="-3163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77994" y="3832105"/>
            <a:ext cx="3474065" cy="847297"/>
            <a:chOff x="0" y="0"/>
            <a:chExt cx="914980" cy="2231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88997" y="4018962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상품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5400000">
            <a:off x="4108749" y="3219390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97044" y="4717502"/>
            <a:ext cx="3474065" cy="847297"/>
            <a:chOff x="0" y="0"/>
            <a:chExt cx="914980" cy="223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8047" y="490435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차별점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독보적 역할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고객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2785" y="4593677"/>
            <a:ext cx="10307343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투자 상품 (Investment Funds)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스타트업 투자 서비스 (Equity Investment)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성장을 위한 밸류업 서비스 (Value-add Services)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30219" y="3877345"/>
            <a:ext cx="4873801" cy="66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</a:pPr>
            <a:r>
              <a:rPr lang="en-US" b="true" sz="4996" spc="-349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주요 상품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28" r="0" b="-3163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77994" y="3832105"/>
            <a:ext cx="3474065" cy="847297"/>
            <a:chOff x="0" y="0"/>
            <a:chExt cx="914980" cy="2231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88997" y="4018962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상품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5400000">
            <a:off x="4108749" y="4107172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3"/>
                </a:lnTo>
                <a:lnTo>
                  <a:pt x="0" y="297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97044" y="4717502"/>
            <a:ext cx="3474065" cy="847297"/>
            <a:chOff x="0" y="0"/>
            <a:chExt cx="914980" cy="223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8047" y="490435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차별점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독보적 역할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고객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2785" y="4593677"/>
            <a:ext cx="10307343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글로벌 네트워크의 깊이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기술 생태계 구축 능력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투자 영역 및 단계의 유연성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30219" y="3877345"/>
            <a:ext cx="4873801" cy="66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</a:pPr>
            <a:r>
              <a:rPr lang="en-US" b="true" sz="4996" spc="-349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차별점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28" r="0" b="-3163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77994" y="3832105"/>
            <a:ext cx="3474065" cy="847297"/>
            <a:chOff x="0" y="0"/>
            <a:chExt cx="914980" cy="2231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88997" y="4018962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주요 상품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5400000">
            <a:off x="4893365" y="5085503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2" y="0"/>
                </a:lnTo>
                <a:lnTo>
                  <a:pt x="297162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97044" y="4717502"/>
            <a:ext cx="3474065" cy="847297"/>
            <a:chOff x="0" y="0"/>
            <a:chExt cx="914980" cy="223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8047" y="490435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차별점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-5400000">
            <a:off x="4108749" y="4994919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최근 행보 &amp; 견해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취업 역량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2785" y="4593677"/>
            <a:ext cx="1030734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글로벌 확장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Alpha Korea Sovereign AI Fund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30219" y="3877345"/>
            <a:ext cx="4873801" cy="66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</a:pPr>
            <a:r>
              <a:rPr lang="en-US" b="true" sz="4996" spc="-349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최근 행보 &amp; 견해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28" r="0" b="-3163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4108749" y="2353064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0"/>
            <a:ext cx="4543081" cy="10287000"/>
            <a:chOff x="0" y="0"/>
            <a:chExt cx="1416645" cy="320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3207741"/>
                  </a:lnTo>
                  <a:lnTo>
                    <a:pt x="0" y="3207741"/>
                  </a:lnTo>
                  <a:close/>
                </a:path>
              </a:pathLst>
            </a:custGeom>
            <a:blipFill>
              <a:blip r:embed="rId2"/>
              <a:stretch>
                <a:fillRect l="-14533" t="0" r="-14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50711" y="0"/>
            <a:ext cx="4543081" cy="10287000"/>
            <a:chOff x="0" y="0"/>
            <a:chExt cx="1416645" cy="3207741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16645" cy="3207741"/>
            </a:xfrm>
            <a:custGeom>
              <a:avLst/>
              <a:gdLst/>
              <a:ahLst/>
              <a:cxnLst/>
              <a:rect r="r" b="b" t="t" l="l"/>
              <a:pathLst>
                <a:path h="3207741" w="1416645">
                  <a:moveTo>
                    <a:pt x="1416645" y="0"/>
                  </a:moveTo>
                  <a:lnTo>
                    <a:pt x="0" y="0"/>
                  </a:lnTo>
                  <a:lnTo>
                    <a:pt x="0" y="3207741"/>
                  </a:lnTo>
                  <a:lnTo>
                    <a:pt x="1416645" y="3207741"/>
                  </a:lnTo>
                  <a:close/>
                </a:path>
              </a:pathLst>
            </a:custGeom>
            <a:blipFill>
              <a:blip r:embed="rId3"/>
              <a:stretch>
                <a:fillRect l="-239105" t="0" r="-11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19" y="2078045"/>
            <a:ext cx="3474065" cy="847297"/>
            <a:chOff x="0" y="0"/>
            <a:chExt cx="914980" cy="223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8522" y="2264853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최근 행보 &amp; 견해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519" y="2944323"/>
            <a:ext cx="3474065" cy="847297"/>
            <a:chOff x="0" y="0"/>
            <a:chExt cx="914980" cy="223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980" cy="223157"/>
            </a:xfrm>
            <a:custGeom>
              <a:avLst/>
              <a:gdLst/>
              <a:ahLst/>
              <a:cxnLst/>
              <a:rect r="r" b="b" t="t" l="l"/>
              <a:pathLst>
                <a:path h="223157" w="914980">
                  <a:moveTo>
                    <a:pt x="0" y="0"/>
                  </a:moveTo>
                  <a:lnTo>
                    <a:pt x="914980" y="0"/>
                  </a:lnTo>
                  <a:lnTo>
                    <a:pt x="914980" y="223157"/>
                  </a:lnTo>
                  <a:lnTo>
                    <a:pt x="0" y="223157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980" cy="26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522" y="3131179"/>
            <a:ext cx="3233059" cy="4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239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취업 역량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522" y="1260419"/>
            <a:ext cx="226209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SBVA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FFFDFD"/>
                </a:solidFill>
                <a:latin typeface="Heebo Light"/>
                <a:ea typeface="Heebo Light"/>
                <a:cs typeface="Heebo Light"/>
                <a:sym typeface="Heebo Light"/>
              </a:rPr>
              <a:t>벤처캐피탈 소개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2785" y="4593677"/>
            <a:ext cx="10307343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기술에 대한 이해와 금융적 </a:t>
            </a: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판단 겸비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기술 변화에 대한 이해와 글로벌 시장 흐름을 읽을 수 있는 역량</a:t>
            </a:r>
          </a:p>
          <a:p>
            <a:pPr algn="l" marL="539748" indent="-269874" lvl="1">
              <a:lnSpc>
                <a:spcPts val="3924"/>
              </a:lnSpc>
              <a:buFont typeface="Arial"/>
              <a:buChar char="•"/>
            </a:pPr>
            <a:r>
              <a:rPr lang="en-US" sz="2499" spc="-49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다양한 언어 구사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30219" y="3877345"/>
            <a:ext cx="4873801" cy="66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</a:pPr>
            <a:r>
              <a:rPr lang="en-US" b="true" sz="4996" spc="-349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취업 역량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9889" y="332681"/>
            <a:ext cx="3630114" cy="965839"/>
          </a:xfrm>
          <a:custGeom>
            <a:avLst/>
            <a:gdLst/>
            <a:ahLst/>
            <a:cxnLst/>
            <a:rect r="r" b="b" t="t" l="l"/>
            <a:pathLst>
              <a:path h="965839" w="3630114">
                <a:moveTo>
                  <a:pt x="0" y="0"/>
                </a:moveTo>
                <a:lnTo>
                  <a:pt x="3630114" y="0"/>
                </a:lnTo>
                <a:lnTo>
                  <a:pt x="3630114" y="965838"/>
                </a:lnTo>
                <a:lnTo>
                  <a:pt x="0" y="965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28" r="0" b="-3163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4108749" y="3219390"/>
            <a:ext cx="297162" cy="297162"/>
          </a:xfrm>
          <a:custGeom>
            <a:avLst/>
            <a:gdLst/>
            <a:ahLst/>
            <a:cxnLst/>
            <a:rect r="r" b="b" t="t" l="l"/>
            <a:pathLst>
              <a:path h="297162" w="297162">
                <a:moveTo>
                  <a:pt x="0" y="0"/>
                </a:moveTo>
                <a:lnTo>
                  <a:pt x="297163" y="0"/>
                </a:lnTo>
                <a:lnTo>
                  <a:pt x="297163" y="297162"/>
                </a:lnTo>
                <a:lnTo>
                  <a:pt x="0" y="29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6539" y="2631177"/>
            <a:ext cx="4114921" cy="1094828"/>
          </a:xfrm>
          <a:custGeom>
            <a:avLst/>
            <a:gdLst/>
            <a:ahLst/>
            <a:cxnLst/>
            <a:rect r="r" b="b" t="t" l="l"/>
            <a:pathLst>
              <a:path h="1094828" w="4114921">
                <a:moveTo>
                  <a:pt x="0" y="0"/>
                </a:moveTo>
                <a:lnTo>
                  <a:pt x="4114922" y="0"/>
                </a:lnTo>
                <a:lnTo>
                  <a:pt x="4114922" y="1094828"/>
                </a:lnTo>
                <a:lnTo>
                  <a:pt x="0" y="1094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028" r="0" b="-316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80813" y="2222432"/>
            <a:ext cx="4326375" cy="37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4"/>
              </a:lnSpc>
            </a:pPr>
            <a:r>
              <a:rPr lang="en-US" sz="2619" spc="-130">
                <a:solidFill>
                  <a:srgbClr val="2F2F2F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혁신을 이끄는 벤처캐피탈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29376" y="7060987"/>
            <a:ext cx="3229248" cy="37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6"/>
              </a:lnSpc>
            </a:pPr>
            <a:r>
              <a:rPr lang="en-US" b="true" sz="2098">
                <a:solidFill>
                  <a:srgbClr val="FFFDFD"/>
                </a:solidFill>
                <a:latin typeface="Heebo Medium"/>
                <a:ea typeface="Heebo Medium"/>
                <a:cs typeface="Heebo Medium"/>
                <a:sym typeface="Heebo Medium"/>
              </a:rPr>
              <a:t>2021213885 손지한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37233" y="4439603"/>
            <a:ext cx="6613534" cy="161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40"/>
              </a:lnSpc>
            </a:pPr>
            <a:r>
              <a:rPr lang="en-US" b="true" sz="12000" spc="-840">
                <a:solidFill>
                  <a:srgbClr val="2F2F2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DAHJczxM52w</dc:identifier>
  <dcterms:modified xsi:type="dcterms:W3CDTF">2011-08-01T06:04:30Z</dcterms:modified>
  <cp:revision>1</cp:revision>
  <dc:title>SBVA</dc:title>
</cp:coreProperties>
</file>